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4" r:id="rId1"/>
  </p:sldMasterIdLst>
  <p:sldIdLst>
    <p:sldId id="256" r:id="rId2"/>
    <p:sldId id="257" r:id="rId3"/>
    <p:sldId id="258" r:id="rId4"/>
    <p:sldId id="259" r:id="rId5"/>
    <p:sldId id="260" r:id="rId6"/>
    <p:sldId id="261" r:id="rId7"/>
    <p:sldId id="263" r:id="rId8"/>
    <p:sldId id="264"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28" d="100"/>
          <a:sy n="128" d="100"/>
        </p:scale>
        <p:origin x="144" y="3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01D6C5B-8995-4CBE-A6C8-F37ABE6A0A7A}" type="datetimeFigureOut">
              <a:rPr lang="en-US" smtClean="0"/>
              <a:t>3/7/2025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4B869415-56AD-49F9-B576-7596EF7ECAC6}"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525494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01D6C5B-8995-4CBE-A6C8-F37ABE6A0A7A}" type="datetimeFigureOut">
              <a:rPr lang="en-US" smtClean="0"/>
              <a:t>3/7/2025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869415-56AD-49F9-B576-7596EF7ECAC6}"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86432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01D6C5B-8995-4CBE-A6C8-F37ABE6A0A7A}" type="datetimeFigureOut">
              <a:rPr lang="en-US" smtClean="0"/>
              <a:t>3/7/2025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869415-56AD-49F9-B576-7596EF7ECAC6}"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53438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01D6C5B-8995-4CBE-A6C8-F37ABE6A0A7A}" type="datetimeFigureOut">
              <a:rPr lang="en-US" smtClean="0"/>
              <a:t>3/7/2025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869415-56AD-49F9-B576-7596EF7ECAC6}"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264263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01D6C5B-8995-4CBE-A6C8-F37ABE6A0A7A}" type="datetimeFigureOut">
              <a:rPr lang="en-US" smtClean="0"/>
              <a:t>3/7/2025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B869415-56AD-49F9-B576-7596EF7ECAC6}"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5795545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01D6C5B-8995-4CBE-A6C8-F37ABE6A0A7A}" type="datetimeFigureOut">
              <a:rPr lang="en-US" smtClean="0"/>
              <a:t>3/7/2025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B869415-56AD-49F9-B576-7596EF7ECAC6}"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157605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1D6C5B-8995-4CBE-A6C8-F37ABE6A0A7A}" type="datetimeFigureOut">
              <a:rPr lang="en-US" smtClean="0"/>
              <a:t>3/7/2025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B869415-56AD-49F9-B576-7596EF7ECAC6}" type="slidenum">
              <a:rPr lang="en-US" smtClean="0"/>
              <a:t>‹#›</a:t>
            </a:fld>
            <a:endParaRPr lang="en-US"/>
          </a:p>
        </p:txBody>
      </p:sp>
    </p:spTree>
    <p:extLst>
      <p:ext uri="{BB962C8B-B14F-4D97-AF65-F5344CB8AC3E}">
        <p14:creationId xmlns:p14="http://schemas.microsoft.com/office/powerpoint/2010/main" val="33501151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01D6C5B-8995-4CBE-A6C8-F37ABE6A0A7A}" type="datetimeFigureOut">
              <a:rPr lang="en-US" smtClean="0"/>
              <a:t>3/7/2025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869415-56AD-49F9-B576-7596EF7ECAC6}"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30864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D01D6C5B-8995-4CBE-A6C8-F37ABE6A0A7A}" type="datetimeFigureOut">
              <a:rPr lang="en-US" smtClean="0"/>
              <a:t>3/7/2025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4B869415-56AD-49F9-B576-7596EF7ECAC6}"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365349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01D6C5B-8995-4CBE-A6C8-F37ABE6A0A7A}" type="datetimeFigureOut">
              <a:rPr lang="en-US" smtClean="0"/>
              <a:t>3/7/2025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869415-56AD-49F9-B576-7596EF7ECAC6}"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51332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01D6C5B-8995-4CBE-A6C8-F37ABE6A0A7A}" type="datetimeFigureOut">
              <a:rPr lang="en-US" smtClean="0"/>
              <a:t>3/7/2025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869415-56AD-49F9-B576-7596EF7ECAC6}"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09702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D01D6C5B-8995-4CBE-A6C8-F37ABE6A0A7A}" type="datetimeFigureOut">
              <a:rPr lang="en-US" smtClean="0"/>
              <a:t>3/7/2025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4B869415-56AD-49F9-B576-7596EF7ECAC6}"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389455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5DDC3-6171-D579-21B7-8E1742B1F61A}"/>
              </a:ext>
            </a:extLst>
          </p:cNvPr>
          <p:cNvSpPr>
            <a:spLocks noGrp="1"/>
          </p:cNvSpPr>
          <p:nvPr>
            <p:ph type="ctrTitle"/>
          </p:nvPr>
        </p:nvSpPr>
        <p:spPr/>
        <p:txBody>
          <a:bodyPr>
            <a:normAutofit/>
          </a:bodyPr>
          <a:lstStyle/>
          <a:p>
            <a:pPr algn="ctr"/>
            <a:r>
              <a:rPr lang="en-US" sz="8000" dirty="0"/>
              <a:t>Team 3</a:t>
            </a:r>
          </a:p>
        </p:txBody>
      </p:sp>
      <p:sp>
        <p:nvSpPr>
          <p:cNvPr id="3" name="Subtitle 2">
            <a:extLst>
              <a:ext uri="{FF2B5EF4-FFF2-40B4-BE49-F238E27FC236}">
                <a16:creationId xmlns:a16="http://schemas.microsoft.com/office/drawing/2014/main" id="{E2E77A6D-86CA-7BF3-FAFE-A6A2B9A1CB39}"/>
              </a:ext>
            </a:extLst>
          </p:cNvPr>
          <p:cNvSpPr>
            <a:spLocks noGrp="1"/>
          </p:cNvSpPr>
          <p:nvPr>
            <p:ph type="subTitle" idx="1"/>
          </p:nvPr>
        </p:nvSpPr>
        <p:spPr/>
        <p:txBody>
          <a:bodyPr>
            <a:normAutofit/>
          </a:bodyPr>
          <a:lstStyle/>
          <a:p>
            <a:pPr algn="ctr"/>
            <a:r>
              <a:rPr lang="en-US" sz="3200" dirty="0"/>
              <a:t>Preprocessing Data for Lung Disease</a:t>
            </a:r>
          </a:p>
        </p:txBody>
      </p:sp>
      <p:sp>
        <p:nvSpPr>
          <p:cNvPr id="4" name="TextBox 3">
            <a:extLst>
              <a:ext uri="{FF2B5EF4-FFF2-40B4-BE49-F238E27FC236}">
                <a16:creationId xmlns:a16="http://schemas.microsoft.com/office/drawing/2014/main" id="{C7F147DA-A4FC-5C82-D15C-9287804BDB6F}"/>
              </a:ext>
            </a:extLst>
          </p:cNvPr>
          <p:cNvSpPr txBox="1"/>
          <p:nvPr/>
        </p:nvSpPr>
        <p:spPr>
          <a:xfrm>
            <a:off x="523664" y="4508825"/>
            <a:ext cx="3788229" cy="1754326"/>
          </a:xfrm>
          <a:prstGeom prst="rect">
            <a:avLst/>
          </a:prstGeom>
          <a:noFill/>
        </p:spPr>
        <p:txBody>
          <a:bodyPr wrap="square" rtlCol="0">
            <a:spAutoFit/>
          </a:bodyPr>
          <a:lstStyle/>
          <a:p>
            <a:r>
              <a:rPr lang="en-US" dirty="0"/>
              <a:t>Team Members:</a:t>
            </a:r>
          </a:p>
          <a:p>
            <a:pPr marL="285750" indent="-285750">
              <a:buFont typeface="Arial" panose="020B0604020202020204" pitchFamily="34" charset="0"/>
              <a:buChar char="•"/>
            </a:pPr>
            <a:r>
              <a:rPr lang="en-US" dirty="0"/>
              <a:t>Prashant Ram</a:t>
            </a:r>
          </a:p>
          <a:p>
            <a:pPr marL="285750" indent="-285750">
              <a:buFont typeface="Arial" panose="020B0604020202020204" pitchFamily="34" charset="0"/>
              <a:buChar char="•"/>
            </a:pPr>
            <a:r>
              <a:rPr lang="en-US" dirty="0"/>
              <a:t>Muhammad Hassan</a:t>
            </a:r>
          </a:p>
          <a:p>
            <a:pPr marL="285750" indent="-285750">
              <a:buFont typeface="Arial" panose="020B0604020202020204" pitchFamily="34" charset="0"/>
              <a:buChar char="•"/>
            </a:pPr>
            <a:r>
              <a:rPr lang="en-US" dirty="0"/>
              <a:t>Mohamed Burhan</a:t>
            </a:r>
          </a:p>
          <a:p>
            <a:pPr marL="285750" indent="-285750">
              <a:buFont typeface="Arial" panose="020B0604020202020204" pitchFamily="34" charset="0"/>
              <a:buChar char="•"/>
            </a:pPr>
            <a:r>
              <a:rPr lang="en-US" dirty="0"/>
              <a:t>Gandhar Tare</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416825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25E2F6-4058-9AF8-EA94-A563F9CEF7F5}"/>
              </a:ext>
            </a:extLst>
          </p:cNvPr>
          <p:cNvSpPr>
            <a:spLocks noGrp="1"/>
          </p:cNvSpPr>
          <p:nvPr>
            <p:ph type="title"/>
          </p:nvPr>
        </p:nvSpPr>
        <p:spPr>
          <a:xfrm>
            <a:off x="838200" y="365126"/>
            <a:ext cx="10515600" cy="527504"/>
          </a:xfrm>
        </p:spPr>
        <p:txBody>
          <a:bodyPr>
            <a:noAutofit/>
          </a:bodyPr>
          <a:lstStyle/>
          <a:p>
            <a:pPr algn="ctr"/>
            <a:r>
              <a:rPr lang="en-US" sz="3200" dirty="0"/>
              <a:t>Age of Patients Against Their Disease Type</a:t>
            </a:r>
          </a:p>
        </p:txBody>
      </p:sp>
      <p:pic>
        <p:nvPicPr>
          <p:cNvPr id="5" name="Content Placeholder 4">
            <a:extLst>
              <a:ext uri="{FF2B5EF4-FFF2-40B4-BE49-F238E27FC236}">
                <a16:creationId xmlns:a16="http://schemas.microsoft.com/office/drawing/2014/main" id="{8C60643D-E836-AD2C-D594-D24204913EFE}"/>
              </a:ext>
            </a:extLst>
          </p:cNvPr>
          <p:cNvPicPr>
            <a:picLocks noGrp="1" noChangeAspect="1"/>
          </p:cNvPicPr>
          <p:nvPr>
            <p:ph idx="1"/>
          </p:nvPr>
        </p:nvPicPr>
        <p:blipFill>
          <a:blip r:embed="rId2"/>
          <a:stretch>
            <a:fillRect/>
          </a:stretch>
        </p:blipFill>
        <p:spPr>
          <a:xfrm>
            <a:off x="87085" y="1699418"/>
            <a:ext cx="7195457" cy="4381555"/>
          </a:xfrm>
        </p:spPr>
      </p:pic>
      <p:sp>
        <p:nvSpPr>
          <p:cNvPr id="6" name="TextBox 5">
            <a:extLst>
              <a:ext uri="{FF2B5EF4-FFF2-40B4-BE49-F238E27FC236}">
                <a16:creationId xmlns:a16="http://schemas.microsoft.com/office/drawing/2014/main" id="{925F8838-A4DA-7157-9326-4EBDF8862783}"/>
              </a:ext>
            </a:extLst>
          </p:cNvPr>
          <p:cNvSpPr txBox="1"/>
          <p:nvPr/>
        </p:nvSpPr>
        <p:spPr>
          <a:xfrm>
            <a:off x="7390894" y="1556658"/>
            <a:ext cx="4572506" cy="4524315"/>
          </a:xfrm>
          <a:prstGeom prst="rect">
            <a:avLst/>
          </a:prstGeom>
          <a:noFill/>
        </p:spPr>
        <p:txBody>
          <a:bodyPr wrap="square" rtlCol="0">
            <a:spAutoFit/>
          </a:bodyPr>
          <a:lstStyle/>
          <a:p>
            <a:r>
              <a:rPr lang="en-US" b="1" dirty="0"/>
              <a:t>Interpretation</a:t>
            </a:r>
          </a:p>
          <a:p>
            <a:pPr marL="285750" indent="-285750">
              <a:buFont typeface="Arial" panose="020B0604020202020204" pitchFamily="34" charset="0"/>
              <a:buChar char="•"/>
            </a:pPr>
            <a:r>
              <a:rPr lang="en-US" dirty="0"/>
              <a:t>patients with bronchitis had 1/4 of them of ages between 20 - 38 and the other 1/4 between 74 - 89. The median age group suffering from this diseases were about 55.</a:t>
            </a:r>
          </a:p>
          <a:p>
            <a:pPr marL="285750" indent="-285750">
              <a:buFont typeface="Arial" panose="020B0604020202020204" pitchFamily="34" charset="0"/>
              <a:buChar char="•"/>
            </a:pPr>
            <a:r>
              <a:rPr lang="en-US" dirty="0"/>
              <a:t>For COPD, the first 1/4 were between 20 -35 and their upper 1/4 were between 70 - 89 while the median age was about 53.</a:t>
            </a:r>
          </a:p>
          <a:p>
            <a:pPr marL="285750" indent="-285750">
              <a:buFont typeface="Arial" panose="020B0604020202020204" pitchFamily="34" charset="0"/>
              <a:buChar char="•"/>
            </a:pPr>
            <a:r>
              <a:rPr lang="en-US" dirty="0"/>
              <a:t>For Lung cancer, the first 1/4 were between 20 -35 and their upper 1/4 were between 70 - 89 while the median age was about 54.For </a:t>
            </a:r>
          </a:p>
          <a:p>
            <a:pPr marL="285750" indent="-285750">
              <a:buFont typeface="Arial" panose="020B0604020202020204" pitchFamily="34" charset="0"/>
              <a:buChar char="•"/>
            </a:pPr>
            <a:r>
              <a:rPr lang="en-US" dirty="0"/>
              <a:t>Pneumonia, the first 1/4 were between 20 -38 and their upper 1/4 were between 72 - 89 while the median age was about 55.</a:t>
            </a:r>
          </a:p>
        </p:txBody>
      </p:sp>
    </p:spTree>
    <p:extLst>
      <p:ext uri="{BB962C8B-B14F-4D97-AF65-F5344CB8AC3E}">
        <p14:creationId xmlns:p14="http://schemas.microsoft.com/office/powerpoint/2010/main" val="14852875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7C977-B13F-F072-B3C9-D5A84EADDF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7AF797-8F73-1E38-25E9-CF0E4E36965D}"/>
              </a:ext>
            </a:extLst>
          </p:cNvPr>
          <p:cNvSpPr>
            <a:spLocks noGrp="1"/>
          </p:cNvSpPr>
          <p:nvPr>
            <p:ph type="title"/>
          </p:nvPr>
        </p:nvSpPr>
        <p:spPr>
          <a:xfrm>
            <a:off x="838200" y="365126"/>
            <a:ext cx="10515600" cy="527504"/>
          </a:xfrm>
        </p:spPr>
        <p:txBody>
          <a:bodyPr>
            <a:noAutofit/>
          </a:bodyPr>
          <a:lstStyle/>
          <a:p>
            <a:pPr algn="ctr"/>
            <a:r>
              <a:rPr lang="en-US" sz="3200" dirty="0"/>
              <a:t>Age of Patients Against Their Disease Type (cont.)</a:t>
            </a:r>
          </a:p>
        </p:txBody>
      </p:sp>
      <p:pic>
        <p:nvPicPr>
          <p:cNvPr id="5" name="Content Placeholder 4">
            <a:extLst>
              <a:ext uri="{FF2B5EF4-FFF2-40B4-BE49-F238E27FC236}">
                <a16:creationId xmlns:a16="http://schemas.microsoft.com/office/drawing/2014/main" id="{8C436FD5-51B4-CFE0-CF9F-05BF043F1513}"/>
              </a:ext>
            </a:extLst>
          </p:cNvPr>
          <p:cNvPicPr>
            <a:picLocks noGrp="1" noChangeAspect="1"/>
          </p:cNvPicPr>
          <p:nvPr>
            <p:ph idx="1"/>
          </p:nvPr>
        </p:nvPicPr>
        <p:blipFill>
          <a:blip r:embed="rId2"/>
          <a:stretch>
            <a:fillRect/>
          </a:stretch>
        </p:blipFill>
        <p:spPr>
          <a:xfrm>
            <a:off x="87086" y="1643744"/>
            <a:ext cx="7217229" cy="4394813"/>
          </a:xfrm>
        </p:spPr>
      </p:pic>
      <p:sp>
        <p:nvSpPr>
          <p:cNvPr id="6" name="TextBox 5">
            <a:extLst>
              <a:ext uri="{FF2B5EF4-FFF2-40B4-BE49-F238E27FC236}">
                <a16:creationId xmlns:a16="http://schemas.microsoft.com/office/drawing/2014/main" id="{159A2134-D076-A22D-A9C8-5DA3F9C84B7A}"/>
              </a:ext>
            </a:extLst>
          </p:cNvPr>
          <p:cNvSpPr txBox="1"/>
          <p:nvPr/>
        </p:nvSpPr>
        <p:spPr>
          <a:xfrm>
            <a:off x="7390894" y="1556658"/>
            <a:ext cx="4572506" cy="1754326"/>
          </a:xfrm>
          <a:prstGeom prst="rect">
            <a:avLst/>
          </a:prstGeom>
          <a:noFill/>
        </p:spPr>
        <p:txBody>
          <a:bodyPr wrap="square" rtlCol="0">
            <a:spAutoFit/>
          </a:bodyPr>
          <a:lstStyle/>
          <a:p>
            <a:r>
              <a:rPr lang="en-US" b="1" dirty="0"/>
              <a:t>Human Insights</a:t>
            </a:r>
          </a:p>
          <a:p>
            <a:r>
              <a:rPr lang="en-US" dirty="0"/>
              <a:t>Based on the interpretation above, we can predict that people who suffer from lung diseases majority are in their mid 50's with the older age group(greater than 70) suffering from Bronchitis and Pneumonia.</a:t>
            </a:r>
          </a:p>
        </p:txBody>
      </p:sp>
    </p:spTree>
    <p:extLst>
      <p:ext uri="{BB962C8B-B14F-4D97-AF65-F5344CB8AC3E}">
        <p14:creationId xmlns:p14="http://schemas.microsoft.com/office/powerpoint/2010/main" val="41857391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4EDE8-DFB4-4251-E75F-B61F6DC8A2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F0B25B-A88A-16AA-FCB8-90F65D43C3BC}"/>
              </a:ext>
            </a:extLst>
          </p:cNvPr>
          <p:cNvSpPr>
            <a:spLocks noGrp="1"/>
          </p:cNvSpPr>
          <p:nvPr>
            <p:ph type="title"/>
          </p:nvPr>
        </p:nvSpPr>
        <p:spPr>
          <a:xfrm>
            <a:off x="838200" y="365126"/>
            <a:ext cx="10515600" cy="527504"/>
          </a:xfrm>
        </p:spPr>
        <p:txBody>
          <a:bodyPr>
            <a:noAutofit/>
          </a:bodyPr>
          <a:lstStyle/>
          <a:p>
            <a:pPr algn="ctr"/>
            <a:r>
              <a:rPr lang="en-US" sz="3200" dirty="0"/>
              <a:t>Recovery Status Against their Smoking Status</a:t>
            </a:r>
          </a:p>
        </p:txBody>
      </p:sp>
      <p:pic>
        <p:nvPicPr>
          <p:cNvPr id="12" name="Content Placeholder 11">
            <a:extLst>
              <a:ext uri="{FF2B5EF4-FFF2-40B4-BE49-F238E27FC236}">
                <a16:creationId xmlns:a16="http://schemas.microsoft.com/office/drawing/2014/main" id="{F922A90D-CFA7-B530-2ED1-4400701C8DF0}"/>
              </a:ext>
            </a:extLst>
          </p:cNvPr>
          <p:cNvPicPr>
            <a:picLocks noGrp="1" noChangeAspect="1"/>
          </p:cNvPicPr>
          <p:nvPr>
            <p:ph idx="1"/>
          </p:nvPr>
        </p:nvPicPr>
        <p:blipFill>
          <a:blip r:embed="rId2"/>
          <a:stretch>
            <a:fillRect/>
          </a:stretch>
        </p:blipFill>
        <p:spPr>
          <a:xfrm>
            <a:off x="174171" y="1379311"/>
            <a:ext cx="6215743" cy="4674070"/>
          </a:xfrm>
        </p:spPr>
      </p:pic>
      <p:sp>
        <p:nvSpPr>
          <p:cNvPr id="6" name="TextBox 5">
            <a:extLst>
              <a:ext uri="{FF2B5EF4-FFF2-40B4-BE49-F238E27FC236}">
                <a16:creationId xmlns:a16="http://schemas.microsoft.com/office/drawing/2014/main" id="{B0F1ADA3-961A-5BDF-E744-81B70FDFCB95}"/>
              </a:ext>
            </a:extLst>
          </p:cNvPr>
          <p:cNvSpPr txBox="1"/>
          <p:nvPr/>
        </p:nvSpPr>
        <p:spPr>
          <a:xfrm>
            <a:off x="7314694" y="1534887"/>
            <a:ext cx="4572506" cy="4093428"/>
          </a:xfrm>
          <a:prstGeom prst="rect">
            <a:avLst/>
          </a:prstGeom>
          <a:noFill/>
        </p:spPr>
        <p:txBody>
          <a:bodyPr wrap="square" rtlCol="0">
            <a:spAutoFit/>
          </a:bodyPr>
          <a:lstStyle/>
          <a:p>
            <a:r>
              <a:rPr lang="en-US" sz="2000" b="1" dirty="0"/>
              <a:t>Interpretation</a:t>
            </a:r>
          </a:p>
          <a:p>
            <a:r>
              <a:rPr lang="en-US" sz="2000" dirty="0"/>
              <a:t>The stacked bar graph depicts that patients who were Non-smokers had about similar recovery outcomes as the ones who smoked. However, we can clearly see that Smokers had a higher outcome of not recovering from their lung diseases.</a:t>
            </a:r>
          </a:p>
          <a:p>
            <a:endParaRPr lang="en-US" sz="2000" dirty="0"/>
          </a:p>
          <a:p>
            <a:r>
              <a:rPr lang="en-US" sz="2000" b="1" dirty="0"/>
              <a:t>Insight</a:t>
            </a:r>
          </a:p>
          <a:p>
            <a:r>
              <a:rPr lang="en-US" sz="2000" dirty="0"/>
              <a:t>The insight that we can make from this is that smoking can worsen the recovery outcome of lung diseases.</a:t>
            </a:r>
          </a:p>
        </p:txBody>
      </p:sp>
    </p:spTree>
    <p:extLst>
      <p:ext uri="{BB962C8B-B14F-4D97-AF65-F5344CB8AC3E}">
        <p14:creationId xmlns:p14="http://schemas.microsoft.com/office/powerpoint/2010/main" val="33063620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AA360-6BA3-6E18-2148-FCB18545B5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00D91D-6179-BA2C-CFB6-754A078ED437}"/>
              </a:ext>
            </a:extLst>
          </p:cNvPr>
          <p:cNvSpPr>
            <a:spLocks noGrp="1"/>
          </p:cNvSpPr>
          <p:nvPr>
            <p:ph type="title"/>
          </p:nvPr>
        </p:nvSpPr>
        <p:spPr>
          <a:xfrm>
            <a:off x="838200" y="365126"/>
            <a:ext cx="10515600" cy="527504"/>
          </a:xfrm>
        </p:spPr>
        <p:txBody>
          <a:bodyPr>
            <a:noAutofit/>
          </a:bodyPr>
          <a:lstStyle/>
          <a:p>
            <a:pPr algn="ctr"/>
            <a:r>
              <a:rPr lang="en-US" sz="3200" dirty="0"/>
              <a:t>Recovery of Patient Against Their Lung Capacity</a:t>
            </a:r>
          </a:p>
        </p:txBody>
      </p:sp>
      <p:pic>
        <p:nvPicPr>
          <p:cNvPr id="8" name="Content Placeholder 7">
            <a:extLst>
              <a:ext uri="{FF2B5EF4-FFF2-40B4-BE49-F238E27FC236}">
                <a16:creationId xmlns:a16="http://schemas.microsoft.com/office/drawing/2014/main" id="{C5501F84-1938-397B-0BAD-CAC8EDBB27F3}"/>
              </a:ext>
            </a:extLst>
          </p:cNvPr>
          <p:cNvPicPr>
            <a:picLocks noGrp="1" noChangeAspect="1"/>
          </p:cNvPicPr>
          <p:nvPr>
            <p:ph idx="1"/>
          </p:nvPr>
        </p:nvPicPr>
        <p:blipFill>
          <a:blip r:embed="rId2"/>
          <a:stretch>
            <a:fillRect/>
          </a:stretch>
        </p:blipFill>
        <p:spPr>
          <a:xfrm>
            <a:off x="337456" y="1662039"/>
            <a:ext cx="5843249" cy="4334891"/>
          </a:xfrm>
        </p:spPr>
      </p:pic>
      <p:sp>
        <p:nvSpPr>
          <p:cNvPr id="6" name="TextBox 5">
            <a:extLst>
              <a:ext uri="{FF2B5EF4-FFF2-40B4-BE49-F238E27FC236}">
                <a16:creationId xmlns:a16="http://schemas.microsoft.com/office/drawing/2014/main" id="{1D69B54F-980D-6F70-E2C1-482F26632A82}"/>
              </a:ext>
            </a:extLst>
          </p:cNvPr>
          <p:cNvSpPr txBox="1"/>
          <p:nvPr/>
        </p:nvSpPr>
        <p:spPr>
          <a:xfrm>
            <a:off x="7380009" y="1171316"/>
            <a:ext cx="4474535" cy="5016758"/>
          </a:xfrm>
          <a:prstGeom prst="rect">
            <a:avLst/>
          </a:prstGeom>
          <a:noFill/>
        </p:spPr>
        <p:txBody>
          <a:bodyPr wrap="square" rtlCol="0">
            <a:spAutoFit/>
          </a:bodyPr>
          <a:lstStyle/>
          <a:p>
            <a:r>
              <a:rPr lang="en-US" sz="2000" b="1" dirty="0"/>
              <a:t>Interpretation</a:t>
            </a:r>
          </a:p>
          <a:p>
            <a:r>
              <a:rPr lang="en-US" sz="2000" dirty="0"/>
              <a:t>The stacked bar graph depicts that patients who had a lower lung capacity (1, 2 and 3) had higher "Not recovered" count. Moreover, patients with a high lung capacity (4-5) had about similar ratio of Recovered and Not Recovered. Finally, patients with the highest lung capacity of 6 had always recovered.</a:t>
            </a:r>
          </a:p>
          <a:p>
            <a:endParaRPr lang="en-US" sz="2000" dirty="0"/>
          </a:p>
          <a:p>
            <a:r>
              <a:rPr lang="en-US" sz="2000" b="1" dirty="0"/>
              <a:t>Insight</a:t>
            </a:r>
          </a:p>
          <a:p>
            <a:r>
              <a:rPr lang="en-US" sz="2000" dirty="0"/>
              <a:t>The insight that we can make from this is that a lower lung capacity can significantly reduce the recovery outcomes whereas a very high one can almost always guarantee recovery.</a:t>
            </a:r>
          </a:p>
        </p:txBody>
      </p:sp>
    </p:spTree>
    <p:extLst>
      <p:ext uri="{BB962C8B-B14F-4D97-AF65-F5344CB8AC3E}">
        <p14:creationId xmlns:p14="http://schemas.microsoft.com/office/powerpoint/2010/main" val="37830417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6B57A-3666-52EF-0BA3-19852C6264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48783D-765A-7B81-1ADB-8A39DE4BF17B}"/>
              </a:ext>
            </a:extLst>
          </p:cNvPr>
          <p:cNvSpPr>
            <a:spLocks noGrp="1"/>
          </p:cNvSpPr>
          <p:nvPr>
            <p:ph type="title"/>
          </p:nvPr>
        </p:nvSpPr>
        <p:spPr>
          <a:xfrm>
            <a:off x="838200" y="365126"/>
            <a:ext cx="10515600" cy="527504"/>
          </a:xfrm>
        </p:spPr>
        <p:txBody>
          <a:bodyPr>
            <a:noAutofit/>
          </a:bodyPr>
          <a:lstStyle/>
          <a:p>
            <a:pPr algn="ctr"/>
            <a:r>
              <a:rPr lang="en-US" sz="3200" dirty="0"/>
              <a:t>Recovery of Patient Against Their Lung Capacity</a:t>
            </a:r>
          </a:p>
        </p:txBody>
      </p:sp>
      <p:pic>
        <p:nvPicPr>
          <p:cNvPr id="7" name="Content Placeholder 6">
            <a:extLst>
              <a:ext uri="{FF2B5EF4-FFF2-40B4-BE49-F238E27FC236}">
                <a16:creationId xmlns:a16="http://schemas.microsoft.com/office/drawing/2014/main" id="{86B79DC2-11D1-79AC-624B-7A8381168A45}"/>
              </a:ext>
            </a:extLst>
          </p:cNvPr>
          <p:cNvPicPr>
            <a:picLocks noGrp="1" noChangeAspect="1"/>
          </p:cNvPicPr>
          <p:nvPr>
            <p:ph idx="1"/>
          </p:nvPr>
        </p:nvPicPr>
        <p:blipFill>
          <a:blip r:embed="rId2"/>
          <a:stretch>
            <a:fillRect/>
          </a:stretch>
        </p:blipFill>
        <p:spPr>
          <a:xfrm>
            <a:off x="119744" y="1481354"/>
            <a:ext cx="6346372" cy="4577371"/>
          </a:xfrm>
        </p:spPr>
      </p:pic>
      <p:sp>
        <p:nvSpPr>
          <p:cNvPr id="6" name="TextBox 5">
            <a:extLst>
              <a:ext uri="{FF2B5EF4-FFF2-40B4-BE49-F238E27FC236}">
                <a16:creationId xmlns:a16="http://schemas.microsoft.com/office/drawing/2014/main" id="{6499590A-B3D7-27B3-BDAA-989B35B0243D}"/>
              </a:ext>
            </a:extLst>
          </p:cNvPr>
          <p:cNvSpPr txBox="1"/>
          <p:nvPr/>
        </p:nvSpPr>
        <p:spPr>
          <a:xfrm>
            <a:off x="7151408" y="1481354"/>
            <a:ext cx="4572506" cy="3785652"/>
          </a:xfrm>
          <a:prstGeom prst="rect">
            <a:avLst/>
          </a:prstGeom>
          <a:noFill/>
        </p:spPr>
        <p:txBody>
          <a:bodyPr wrap="square" rtlCol="0">
            <a:spAutoFit/>
          </a:bodyPr>
          <a:lstStyle/>
          <a:p>
            <a:r>
              <a:rPr lang="en-US" sz="2000" b="1" dirty="0"/>
              <a:t>Interpretation</a:t>
            </a:r>
          </a:p>
          <a:p>
            <a:r>
              <a:rPr lang="en-US" sz="2000" dirty="0"/>
              <a:t>We can see that patients which opted for therapy as their form of treatment had a higher count of not recovering when compared to the ones who chose surgery. The ones who chose surgery had a higher count of recovering after the treatment.</a:t>
            </a:r>
          </a:p>
          <a:p>
            <a:endParaRPr lang="en-US" sz="2000" dirty="0"/>
          </a:p>
          <a:p>
            <a:r>
              <a:rPr lang="en-US" sz="2000" b="1" dirty="0"/>
              <a:t>Insight</a:t>
            </a:r>
          </a:p>
          <a:p>
            <a:r>
              <a:rPr lang="en-US" sz="2000" dirty="0"/>
              <a:t>We can say that surgical forms of treatment work much better than just therapeutical kind.</a:t>
            </a:r>
          </a:p>
        </p:txBody>
      </p:sp>
    </p:spTree>
    <p:extLst>
      <p:ext uri="{BB962C8B-B14F-4D97-AF65-F5344CB8AC3E}">
        <p14:creationId xmlns:p14="http://schemas.microsoft.com/office/powerpoint/2010/main" val="31481314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0DD48-EBB4-116D-5283-D88DC6D4DA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5FB580-3A23-DDB6-7404-3DF1B74E4DD3}"/>
              </a:ext>
            </a:extLst>
          </p:cNvPr>
          <p:cNvSpPr>
            <a:spLocks noGrp="1"/>
          </p:cNvSpPr>
          <p:nvPr>
            <p:ph type="title"/>
          </p:nvPr>
        </p:nvSpPr>
        <p:spPr>
          <a:xfrm>
            <a:off x="838200" y="365126"/>
            <a:ext cx="10515600" cy="527504"/>
          </a:xfrm>
        </p:spPr>
        <p:txBody>
          <a:bodyPr>
            <a:noAutofit/>
          </a:bodyPr>
          <a:lstStyle/>
          <a:p>
            <a:pPr algn="ctr"/>
            <a:r>
              <a:rPr lang="en-US" dirty="0"/>
              <a:t>Data Subset Overview &amp; Target Distribution</a:t>
            </a:r>
            <a:endParaRPr lang="en-US" sz="3200" dirty="0"/>
          </a:p>
        </p:txBody>
      </p:sp>
      <p:pic>
        <p:nvPicPr>
          <p:cNvPr id="8" name="Picture 7">
            <a:extLst>
              <a:ext uri="{FF2B5EF4-FFF2-40B4-BE49-F238E27FC236}">
                <a16:creationId xmlns:a16="http://schemas.microsoft.com/office/drawing/2014/main" id="{58FED12E-3F2B-5CC9-ACED-EC5CDFB03724}"/>
              </a:ext>
            </a:extLst>
          </p:cNvPr>
          <p:cNvPicPr>
            <a:picLocks noChangeAspect="1"/>
          </p:cNvPicPr>
          <p:nvPr/>
        </p:nvPicPr>
        <p:blipFill>
          <a:blip r:embed="rId2"/>
          <a:stretch>
            <a:fillRect/>
          </a:stretch>
        </p:blipFill>
        <p:spPr>
          <a:xfrm>
            <a:off x="201168" y="1481354"/>
            <a:ext cx="6316561" cy="3943812"/>
          </a:xfrm>
          <a:prstGeom prst="rect">
            <a:avLst/>
          </a:prstGeom>
        </p:spPr>
      </p:pic>
      <p:sp>
        <p:nvSpPr>
          <p:cNvPr id="14" name="TextBox 13">
            <a:extLst>
              <a:ext uri="{FF2B5EF4-FFF2-40B4-BE49-F238E27FC236}">
                <a16:creationId xmlns:a16="http://schemas.microsoft.com/office/drawing/2014/main" id="{DEF2A708-E973-4194-2A1A-10645E416231}"/>
              </a:ext>
            </a:extLst>
          </p:cNvPr>
          <p:cNvSpPr txBox="1"/>
          <p:nvPr/>
        </p:nvSpPr>
        <p:spPr>
          <a:xfrm>
            <a:off x="6517729" y="1536492"/>
            <a:ext cx="4946754" cy="6309420"/>
          </a:xfrm>
          <a:prstGeom prst="rect">
            <a:avLst/>
          </a:prstGeom>
          <a:noFill/>
        </p:spPr>
        <p:txBody>
          <a:bodyPr wrap="square" rtlCol="0">
            <a:spAutoFit/>
          </a:bodyPr>
          <a:lstStyle/>
          <a:p>
            <a:pPr marL="285750" indent="-285750">
              <a:buFont typeface="Wingdings" panose="05000000000000000000" pitchFamily="2" charset="2"/>
              <a:buChar char="§"/>
            </a:pPr>
            <a:r>
              <a:rPr lang="en-US" b="1" dirty="0"/>
              <a:t>What It Shows:</a:t>
            </a:r>
            <a:r>
              <a:rPr lang="en-US" dirty="0"/>
              <a:t> </a:t>
            </a:r>
          </a:p>
          <a:p>
            <a:pPr marL="285750" indent="-285750">
              <a:buFont typeface="Wingdings" panose="05000000000000000000" pitchFamily="2" charset="2"/>
              <a:buChar char="Ø"/>
            </a:pPr>
            <a:r>
              <a:rPr lang="en-US" sz="1600" dirty="0"/>
              <a:t>This bar chart presents the number of samples in each data subset from our 80/20 train/test split.</a:t>
            </a:r>
          </a:p>
          <a:p>
            <a:pPr marL="285750" indent="-285750">
              <a:buFont typeface="Wingdings" panose="05000000000000000000" pitchFamily="2" charset="2"/>
              <a:buChar char="Ø"/>
            </a:pPr>
            <a:r>
              <a:rPr lang="en-US" sz="1600" dirty="0"/>
              <a:t>It includes “Training Features (</a:t>
            </a:r>
            <a:r>
              <a:rPr lang="en-US" sz="1600" dirty="0" err="1"/>
              <a:t>x_train</a:t>
            </a:r>
            <a:r>
              <a:rPr lang="en-US" sz="1600" dirty="0"/>
              <a:t>)”, “Testing Features (</a:t>
            </a:r>
            <a:r>
              <a:rPr lang="en-US" sz="1600" dirty="0" err="1"/>
              <a:t>x_test</a:t>
            </a:r>
            <a:r>
              <a:rPr lang="en-US" sz="1600" dirty="0"/>
              <a:t>)”, “Training Labels (</a:t>
            </a:r>
            <a:r>
              <a:rPr lang="en-US" sz="1600" dirty="0" err="1"/>
              <a:t>y_train</a:t>
            </a:r>
            <a:r>
              <a:rPr lang="en-US" sz="1600" dirty="0"/>
              <a:t>)”, and “Testing Labels (</a:t>
            </a:r>
            <a:r>
              <a:rPr lang="en-US" sz="1600" dirty="0" err="1"/>
              <a:t>y_test</a:t>
            </a:r>
            <a:r>
              <a:rPr lang="en-US" sz="1600" dirty="0"/>
              <a:t>)”.</a:t>
            </a:r>
          </a:p>
          <a:p>
            <a:pPr marL="285750" indent="-285750">
              <a:buFont typeface="Wingdings" panose="05000000000000000000" pitchFamily="2" charset="2"/>
              <a:buChar char="§"/>
            </a:pPr>
            <a:r>
              <a:rPr lang="en-US" b="1" dirty="0"/>
              <a:t>Interpretation</a:t>
            </a:r>
            <a:r>
              <a:rPr lang="en-US" dirty="0"/>
              <a:t>:</a:t>
            </a:r>
          </a:p>
          <a:p>
            <a:pPr marL="285750" indent="-285750">
              <a:buFont typeface="Wingdings" panose="05000000000000000000" pitchFamily="2" charset="2"/>
              <a:buChar char="Ø"/>
            </a:pPr>
            <a:r>
              <a:rPr lang="en-US" sz="1600" dirty="0"/>
              <a:t>The chart confirms that approximately 80% of the samples are in the training set and 20% in the testing set. The exact counts, annotated on each bar, ensure we have a clear, balanced split.</a:t>
            </a:r>
          </a:p>
          <a:p>
            <a:pPr marL="285750" indent="-285750">
              <a:buFont typeface="Wingdings" panose="05000000000000000000" pitchFamily="2" charset="2"/>
              <a:buChar char="§"/>
            </a:pPr>
            <a:r>
              <a:rPr lang="en-US" b="1" dirty="0"/>
              <a:t>Machine Analysis Insight:</a:t>
            </a:r>
          </a:p>
          <a:p>
            <a:pPr marL="285750" indent="-285750">
              <a:buFont typeface="Wingdings" panose="05000000000000000000" pitchFamily="2" charset="2"/>
              <a:buChar char="Ø"/>
            </a:pPr>
            <a:r>
              <a:rPr lang="en-US" sz="1600" dirty="0"/>
              <a:t>Automated splitting methods were used to ensure that our data distribution remains consistent, which is crucial for building reliable predictive models.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endParaRPr lang="en-US" dirty="0"/>
          </a:p>
        </p:txBody>
      </p:sp>
    </p:spTree>
    <p:extLst>
      <p:ext uri="{BB962C8B-B14F-4D97-AF65-F5344CB8AC3E}">
        <p14:creationId xmlns:p14="http://schemas.microsoft.com/office/powerpoint/2010/main" val="39553621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E387A-5694-D500-67AD-AB651B4E4A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AA47F0-5FCA-34DB-E17B-63D480426D17}"/>
              </a:ext>
            </a:extLst>
          </p:cNvPr>
          <p:cNvSpPr>
            <a:spLocks noGrp="1"/>
          </p:cNvSpPr>
          <p:nvPr>
            <p:ph type="title"/>
          </p:nvPr>
        </p:nvSpPr>
        <p:spPr>
          <a:xfrm>
            <a:off x="838200" y="365126"/>
            <a:ext cx="10515600" cy="527504"/>
          </a:xfrm>
        </p:spPr>
        <p:txBody>
          <a:bodyPr>
            <a:noAutofit/>
          </a:bodyPr>
          <a:lstStyle/>
          <a:p>
            <a:pPr algn="ctr"/>
            <a:r>
              <a:rPr lang="en-US" dirty="0"/>
              <a:t>Distribution of Recovery Status</a:t>
            </a:r>
            <a:endParaRPr lang="en-US" sz="3200" dirty="0"/>
          </a:p>
        </p:txBody>
      </p:sp>
      <p:sp>
        <p:nvSpPr>
          <p:cNvPr id="6" name="TextBox 5">
            <a:extLst>
              <a:ext uri="{FF2B5EF4-FFF2-40B4-BE49-F238E27FC236}">
                <a16:creationId xmlns:a16="http://schemas.microsoft.com/office/drawing/2014/main" id="{0C75D740-5FF8-9F91-E268-F855DCCD972A}"/>
              </a:ext>
            </a:extLst>
          </p:cNvPr>
          <p:cNvSpPr txBox="1"/>
          <p:nvPr/>
        </p:nvSpPr>
        <p:spPr>
          <a:xfrm>
            <a:off x="6374259" y="1481354"/>
            <a:ext cx="4572506" cy="3662541"/>
          </a:xfrm>
          <a:prstGeom prst="rect">
            <a:avLst/>
          </a:prstGeom>
          <a:noFill/>
        </p:spPr>
        <p:txBody>
          <a:bodyPr wrap="square" rtlCol="0">
            <a:spAutoFit/>
          </a:bodyPr>
          <a:lstStyle/>
          <a:p>
            <a:pPr marL="285750" indent="-285750">
              <a:spcAft>
                <a:spcPts val="600"/>
              </a:spcAft>
              <a:buFont typeface="Wingdings" panose="05000000000000000000" pitchFamily="2" charset="2"/>
              <a:buChar char="§"/>
            </a:pPr>
            <a:r>
              <a:rPr lang="en-US" b="1" dirty="0"/>
              <a:t>What It Shows:</a:t>
            </a:r>
          </a:p>
          <a:p>
            <a:pPr marL="285750" indent="-285750">
              <a:spcAft>
                <a:spcPts val="600"/>
              </a:spcAft>
              <a:buFont typeface="Wingdings" panose="05000000000000000000" pitchFamily="2" charset="2"/>
              <a:buChar char="Ø"/>
            </a:pPr>
            <a:r>
              <a:rPr lang="en-US" sz="1700" dirty="0"/>
              <a:t>This count plot compares the number of recovered versus non-recovered patients across the training and testing sets.</a:t>
            </a:r>
          </a:p>
          <a:p>
            <a:pPr marL="285750" indent="-285750">
              <a:spcAft>
                <a:spcPts val="600"/>
              </a:spcAft>
              <a:buFont typeface="Wingdings" panose="05000000000000000000" pitchFamily="2" charset="2"/>
              <a:buChar char="§"/>
            </a:pPr>
            <a:r>
              <a:rPr lang="en-US" b="1" dirty="0"/>
              <a:t>Interpretation:</a:t>
            </a:r>
          </a:p>
          <a:p>
            <a:pPr marL="285750" indent="-285750">
              <a:spcAft>
                <a:spcPts val="600"/>
              </a:spcAft>
              <a:buFont typeface="Wingdings" panose="05000000000000000000" pitchFamily="2" charset="2"/>
              <a:buChar char="Ø"/>
            </a:pPr>
            <a:r>
              <a:rPr lang="en-US" sz="1700" dirty="0"/>
              <a:t>It verifies that the target variable distribution is maintained between the two subsets, preventing bias.</a:t>
            </a:r>
          </a:p>
          <a:p>
            <a:pPr marL="342900" indent="-342900">
              <a:spcAft>
                <a:spcPts val="600"/>
              </a:spcAft>
              <a:buFont typeface="Wingdings" panose="05000000000000000000" pitchFamily="2" charset="2"/>
              <a:buChar char="§"/>
            </a:pPr>
            <a:r>
              <a:rPr lang="en-US" b="1" dirty="0"/>
              <a:t>Machine Analysis Insight:</a:t>
            </a:r>
          </a:p>
          <a:p>
            <a:pPr marL="342900" indent="-342900">
              <a:spcAft>
                <a:spcPts val="600"/>
              </a:spcAft>
              <a:buFont typeface="Wingdings" panose="05000000000000000000" pitchFamily="2" charset="2"/>
              <a:buChar char="Ø"/>
            </a:pPr>
            <a:r>
              <a:rPr lang="en-US" sz="1700" dirty="0"/>
              <a:t>Preserving the inherent class balance through machine-driven preprocessing supports robust and unbiased model training.</a:t>
            </a:r>
          </a:p>
        </p:txBody>
      </p:sp>
      <p:pic>
        <p:nvPicPr>
          <p:cNvPr id="5" name="Picture 4">
            <a:extLst>
              <a:ext uri="{FF2B5EF4-FFF2-40B4-BE49-F238E27FC236}">
                <a16:creationId xmlns:a16="http://schemas.microsoft.com/office/drawing/2014/main" id="{875591ED-478D-CA9D-4E6E-45EBD5FBBA6B}"/>
              </a:ext>
            </a:extLst>
          </p:cNvPr>
          <p:cNvPicPr>
            <a:picLocks noChangeAspect="1"/>
          </p:cNvPicPr>
          <p:nvPr/>
        </p:nvPicPr>
        <p:blipFill>
          <a:blip r:embed="rId2"/>
          <a:stretch>
            <a:fillRect/>
          </a:stretch>
        </p:blipFill>
        <p:spPr>
          <a:xfrm>
            <a:off x="253584" y="1481354"/>
            <a:ext cx="6120675" cy="3984991"/>
          </a:xfrm>
          <a:prstGeom prst="rect">
            <a:avLst/>
          </a:prstGeom>
        </p:spPr>
      </p:pic>
    </p:spTree>
    <p:extLst>
      <p:ext uri="{BB962C8B-B14F-4D97-AF65-F5344CB8AC3E}">
        <p14:creationId xmlns:p14="http://schemas.microsoft.com/office/powerpoint/2010/main" val="4195371565"/>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TM10001114[[fn=Gallery]]</Template>
  <TotalTime>51</TotalTime>
  <Words>636</Words>
  <Application>Microsoft Office PowerPoint</Application>
  <PresentationFormat>Widescreen</PresentationFormat>
  <Paragraphs>55</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Gill Sans MT</vt:lpstr>
      <vt:lpstr>Wingdings</vt:lpstr>
      <vt:lpstr>Gallery</vt:lpstr>
      <vt:lpstr>Team 3</vt:lpstr>
      <vt:lpstr>Age of Patients Against Their Disease Type</vt:lpstr>
      <vt:lpstr>Age of Patients Against Their Disease Type (cont.)</vt:lpstr>
      <vt:lpstr>Recovery Status Against their Smoking Status</vt:lpstr>
      <vt:lpstr>Recovery of Patient Against Their Lung Capacity</vt:lpstr>
      <vt:lpstr>Recovery of Patient Against Their Lung Capacity</vt:lpstr>
      <vt:lpstr>Data Subset Overview &amp; Target Distribution</vt:lpstr>
      <vt:lpstr>Distribution of Recovery Status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Prashant Ram</dc:creator>
  <cp:lastModifiedBy>Hassan, Muhammad</cp:lastModifiedBy>
  <cp:revision>11</cp:revision>
  <dcterms:created xsi:type="dcterms:W3CDTF">2025-03-06T08:55:42Z</dcterms:created>
  <dcterms:modified xsi:type="dcterms:W3CDTF">2025-03-07T22:26:47Z</dcterms:modified>
</cp:coreProperties>
</file>