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1D6C5B-8995-4CBE-A6C8-F37ABE6A0A7A}" type="datetimeFigureOut">
              <a:rPr lang="en-US" smtClean="0"/>
              <a:t>3/6/2025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B869415-56AD-49F9-B576-7596EF7ECAC6}"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2549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D6C5B-8995-4CBE-A6C8-F37ABE6A0A7A}"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69415-56AD-49F9-B576-7596EF7ECAC6}"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6432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1D6C5B-8995-4CBE-A6C8-F37ABE6A0A7A}"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69415-56AD-49F9-B576-7596EF7ECAC6}"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3438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1D6C5B-8995-4CBE-A6C8-F37ABE6A0A7A}"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869415-56AD-49F9-B576-7596EF7ECAC6}"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6426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1D6C5B-8995-4CBE-A6C8-F37ABE6A0A7A}" type="datetimeFigureOut">
              <a:rPr lang="en-US" smtClean="0"/>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869415-56AD-49F9-B576-7596EF7ECAC6}"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9554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1D6C5B-8995-4CBE-A6C8-F37ABE6A0A7A}" type="datetimeFigureOut">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869415-56AD-49F9-B576-7596EF7ECAC6}"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7605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1D6C5B-8995-4CBE-A6C8-F37ABE6A0A7A}" type="datetimeFigureOut">
              <a:rPr lang="en-US" smtClean="0"/>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869415-56AD-49F9-B576-7596EF7ECAC6}" type="slidenum">
              <a:rPr lang="en-US" smtClean="0"/>
              <a:t>‹#›</a:t>
            </a:fld>
            <a:endParaRPr lang="en-US"/>
          </a:p>
        </p:txBody>
      </p:sp>
    </p:spTree>
    <p:extLst>
      <p:ext uri="{BB962C8B-B14F-4D97-AF65-F5344CB8AC3E}">
        <p14:creationId xmlns:p14="http://schemas.microsoft.com/office/powerpoint/2010/main" val="3350115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1D6C5B-8995-4CBE-A6C8-F37ABE6A0A7A}"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869415-56AD-49F9-B576-7596EF7ECAC6}"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0864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01D6C5B-8995-4CBE-A6C8-F37ABE6A0A7A}" type="datetimeFigureOut">
              <a:rPr lang="en-US" smtClean="0"/>
              <a:t>3/6/2025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B869415-56AD-49F9-B576-7596EF7ECAC6}"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6534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D6C5B-8995-4CBE-A6C8-F37ABE6A0A7A}"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69415-56AD-49F9-B576-7596EF7ECAC6}"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1332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D6C5B-8995-4CBE-A6C8-F37ABE6A0A7A}"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69415-56AD-49F9-B576-7596EF7ECAC6}"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9702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01D6C5B-8995-4CBE-A6C8-F37ABE6A0A7A}" type="datetimeFigureOut">
              <a:rPr lang="en-US" smtClean="0"/>
              <a:t>3/6/2025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869415-56AD-49F9-B576-7596EF7ECAC6}"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9455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5DDC3-6171-D579-21B7-8E1742B1F61A}"/>
              </a:ext>
            </a:extLst>
          </p:cNvPr>
          <p:cNvSpPr>
            <a:spLocks noGrp="1"/>
          </p:cNvSpPr>
          <p:nvPr>
            <p:ph type="ctrTitle"/>
          </p:nvPr>
        </p:nvSpPr>
        <p:spPr/>
        <p:txBody>
          <a:bodyPr>
            <a:normAutofit/>
          </a:bodyPr>
          <a:lstStyle/>
          <a:p>
            <a:pPr algn="ctr"/>
            <a:r>
              <a:rPr lang="en-US" sz="8000" dirty="0"/>
              <a:t>Team 3</a:t>
            </a:r>
          </a:p>
        </p:txBody>
      </p:sp>
      <p:sp>
        <p:nvSpPr>
          <p:cNvPr id="3" name="Subtitle 2">
            <a:extLst>
              <a:ext uri="{FF2B5EF4-FFF2-40B4-BE49-F238E27FC236}">
                <a16:creationId xmlns:a16="http://schemas.microsoft.com/office/drawing/2014/main" id="{E2E77A6D-86CA-7BF3-FAFE-A6A2B9A1CB39}"/>
              </a:ext>
            </a:extLst>
          </p:cNvPr>
          <p:cNvSpPr>
            <a:spLocks noGrp="1"/>
          </p:cNvSpPr>
          <p:nvPr>
            <p:ph type="subTitle" idx="1"/>
          </p:nvPr>
        </p:nvSpPr>
        <p:spPr/>
        <p:txBody>
          <a:bodyPr>
            <a:normAutofit/>
          </a:bodyPr>
          <a:lstStyle/>
          <a:p>
            <a:pPr algn="ctr"/>
            <a:r>
              <a:rPr lang="en-US" sz="3200" dirty="0"/>
              <a:t>Preprocessing Data for Lung Disease</a:t>
            </a:r>
          </a:p>
        </p:txBody>
      </p:sp>
      <p:sp>
        <p:nvSpPr>
          <p:cNvPr id="4" name="TextBox 3">
            <a:extLst>
              <a:ext uri="{FF2B5EF4-FFF2-40B4-BE49-F238E27FC236}">
                <a16:creationId xmlns:a16="http://schemas.microsoft.com/office/drawing/2014/main" id="{C7F147DA-A4FC-5C82-D15C-9287804BDB6F}"/>
              </a:ext>
            </a:extLst>
          </p:cNvPr>
          <p:cNvSpPr txBox="1"/>
          <p:nvPr/>
        </p:nvSpPr>
        <p:spPr>
          <a:xfrm>
            <a:off x="523664" y="4696300"/>
            <a:ext cx="3788229" cy="1477328"/>
          </a:xfrm>
          <a:prstGeom prst="rect">
            <a:avLst/>
          </a:prstGeom>
          <a:noFill/>
        </p:spPr>
        <p:txBody>
          <a:bodyPr wrap="square" rtlCol="0">
            <a:spAutoFit/>
          </a:bodyPr>
          <a:lstStyle/>
          <a:p>
            <a:r>
              <a:rPr lang="en-US" dirty="0"/>
              <a:t>Team Members:</a:t>
            </a:r>
          </a:p>
          <a:p>
            <a:pPr marL="285750" indent="-285750">
              <a:buFont typeface="Arial" panose="020B0604020202020204" pitchFamily="34" charset="0"/>
              <a:buChar char="•"/>
            </a:pPr>
            <a:r>
              <a:rPr lang="en-US" dirty="0"/>
              <a:t>Prashant Ram</a:t>
            </a:r>
          </a:p>
          <a:p>
            <a:pPr marL="285750" indent="-285750">
              <a:buFont typeface="Arial" panose="020B0604020202020204" pitchFamily="34" charset="0"/>
              <a:buChar char="•"/>
            </a:pPr>
            <a:r>
              <a:rPr lang="en-US" dirty="0"/>
              <a:t>Muhammad Hassan</a:t>
            </a:r>
          </a:p>
          <a:p>
            <a:pPr marL="285750" indent="-285750">
              <a:buFont typeface="Arial" panose="020B0604020202020204" pitchFamily="34" charset="0"/>
              <a:buChar char="•"/>
            </a:pPr>
            <a:r>
              <a:rPr lang="en-US"/>
              <a:t>Mohamed Burhan</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41682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5E2F6-4058-9AF8-EA94-A563F9CEF7F5}"/>
              </a:ext>
            </a:extLst>
          </p:cNvPr>
          <p:cNvSpPr>
            <a:spLocks noGrp="1"/>
          </p:cNvSpPr>
          <p:nvPr>
            <p:ph type="title"/>
          </p:nvPr>
        </p:nvSpPr>
        <p:spPr>
          <a:xfrm>
            <a:off x="838200" y="365126"/>
            <a:ext cx="10515600" cy="527504"/>
          </a:xfrm>
        </p:spPr>
        <p:txBody>
          <a:bodyPr>
            <a:noAutofit/>
          </a:bodyPr>
          <a:lstStyle/>
          <a:p>
            <a:pPr algn="ctr"/>
            <a:r>
              <a:rPr lang="en-US" sz="3200" dirty="0"/>
              <a:t>Age of Patients Against Their Disease Type</a:t>
            </a:r>
          </a:p>
        </p:txBody>
      </p:sp>
      <p:pic>
        <p:nvPicPr>
          <p:cNvPr id="5" name="Content Placeholder 4">
            <a:extLst>
              <a:ext uri="{FF2B5EF4-FFF2-40B4-BE49-F238E27FC236}">
                <a16:creationId xmlns:a16="http://schemas.microsoft.com/office/drawing/2014/main" id="{8C60643D-E836-AD2C-D594-D24204913EFE}"/>
              </a:ext>
            </a:extLst>
          </p:cNvPr>
          <p:cNvPicPr>
            <a:picLocks noGrp="1" noChangeAspect="1"/>
          </p:cNvPicPr>
          <p:nvPr>
            <p:ph idx="1"/>
          </p:nvPr>
        </p:nvPicPr>
        <p:blipFill>
          <a:blip r:embed="rId2"/>
          <a:stretch>
            <a:fillRect/>
          </a:stretch>
        </p:blipFill>
        <p:spPr>
          <a:xfrm>
            <a:off x="87085" y="1699418"/>
            <a:ext cx="7195457" cy="4381555"/>
          </a:xfrm>
        </p:spPr>
      </p:pic>
      <p:sp>
        <p:nvSpPr>
          <p:cNvPr id="6" name="TextBox 5">
            <a:extLst>
              <a:ext uri="{FF2B5EF4-FFF2-40B4-BE49-F238E27FC236}">
                <a16:creationId xmlns:a16="http://schemas.microsoft.com/office/drawing/2014/main" id="{925F8838-A4DA-7157-9326-4EBDF8862783}"/>
              </a:ext>
            </a:extLst>
          </p:cNvPr>
          <p:cNvSpPr txBox="1"/>
          <p:nvPr/>
        </p:nvSpPr>
        <p:spPr>
          <a:xfrm>
            <a:off x="7390894" y="1556658"/>
            <a:ext cx="4572506" cy="4524315"/>
          </a:xfrm>
          <a:prstGeom prst="rect">
            <a:avLst/>
          </a:prstGeom>
          <a:noFill/>
        </p:spPr>
        <p:txBody>
          <a:bodyPr wrap="square" rtlCol="0">
            <a:spAutoFit/>
          </a:bodyPr>
          <a:lstStyle/>
          <a:p>
            <a:r>
              <a:rPr lang="en-US" b="1" dirty="0"/>
              <a:t>Interpretation</a:t>
            </a:r>
          </a:p>
          <a:p>
            <a:pPr marL="285750" indent="-285750">
              <a:buFont typeface="Arial" panose="020B0604020202020204" pitchFamily="34" charset="0"/>
              <a:buChar char="•"/>
            </a:pPr>
            <a:r>
              <a:rPr lang="en-US" dirty="0"/>
              <a:t>patients with bronchitis had 1/4 of them of ages between 20 - 38 and the other 1/4 between 74 - 89. The median age group suffering from this diseases were about 55.</a:t>
            </a:r>
          </a:p>
          <a:p>
            <a:pPr marL="285750" indent="-285750">
              <a:buFont typeface="Arial" panose="020B0604020202020204" pitchFamily="34" charset="0"/>
              <a:buChar char="•"/>
            </a:pPr>
            <a:r>
              <a:rPr lang="en-US" dirty="0"/>
              <a:t>For COPD, the first 1/4 were between 20 -35 and their upper 1/4 were between 70 - 89 while the median age was about 53.</a:t>
            </a:r>
          </a:p>
          <a:p>
            <a:pPr marL="285750" indent="-285750">
              <a:buFont typeface="Arial" panose="020B0604020202020204" pitchFamily="34" charset="0"/>
              <a:buChar char="•"/>
            </a:pPr>
            <a:r>
              <a:rPr lang="en-US" dirty="0"/>
              <a:t>For Lung cancer, the first 1/4 were between 20 -35 and their upper 1/4 were between 70 - 89 while the median age was about 54.For </a:t>
            </a:r>
          </a:p>
          <a:p>
            <a:pPr marL="285750" indent="-285750">
              <a:buFont typeface="Arial" panose="020B0604020202020204" pitchFamily="34" charset="0"/>
              <a:buChar char="•"/>
            </a:pPr>
            <a:r>
              <a:rPr lang="en-US" dirty="0"/>
              <a:t>Pneumonia, the first 1/4 were between 20 -38 and their upper 1/4 were between 72 - 89 while the median age was about 55.</a:t>
            </a:r>
          </a:p>
        </p:txBody>
      </p:sp>
    </p:spTree>
    <p:extLst>
      <p:ext uri="{BB962C8B-B14F-4D97-AF65-F5344CB8AC3E}">
        <p14:creationId xmlns:p14="http://schemas.microsoft.com/office/powerpoint/2010/main" val="1485287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7C977-B13F-F072-B3C9-D5A84EADD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AF797-8F73-1E38-25E9-CF0E4E36965D}"/>
              </a:ext>
            </a:extLst>
          </p:cNvPr>
          <p:cNvSpPr>
            <a:spLocks noGrp="1"/>
          </p:cNvSpPr>
          <p:nvPr>
            <p:ph type="title"/>
          </p:nvPr>
        </p:nvSpPr>
        <p:spPr>
          <a:xfrm>
            <a:off x="838200" y="365126"/>
            <a:ext cx="10515600" cy="527504"/>
          </a:xfrm>
        </p:spPr>
        <p:txBody>
          <a:bodyPr>
            <a:noAutofit/>
          </a:bodyPr>
          <a:lstStyle/>
          <a:p>
            <a:pPr algn="ctr"/>
            <a:r>
              <a:rPr lang="en-US" sz="3200" dirty="0"/>
              <a:t>Age of Patients Against Their Disease Type (cont.)</a:t>
            </a:r>
          </a:p>
        </p:txBody>
      </p:sp>
      <p:pic>
        <p:nvPicPr>
          <p:cNvPr id="5" name="Content Placeholder 4">
            <a:extLst>
              <a:ext uri="{FF2B5EF4-FFF2-40B4-BE49-F238E27FC236}">
                <a16:creationId xmlns:a16="http://schemas.microsoft.com/office/drawing/2014/main" id="{8C436FD5-51B4-CFE0-CF9F-05BF043F1513}"/>
              </a:ext>
            </a:extLst>
          </p:cNvPr>
          <p:cNvPicPr>
            <a:picLocks noGrp="1" noChangeAspect="1"/>
          </p:cNvPicPr>
          <p:nvPr>
            <p:ph idx="1"/>
          </p:nvPr>
        </p:nvPicPr>
        <p:blipFill>
          <a:blip r:embed="rId2"/>
          <a:stretch>
            <a:fillRect/>
          </a:stretch>
        </p:blipFill>
        <p:spPr>
          <a:xfrm>
            <a:off x="87086" y="1643744"/>
            <a:ext cx="7217229" cy="4394813"/>
          </a:xfrm>
        </p:spPr>
      </p:pic>
      <p:sp>
        <p:nvSpPr>
          <p:cNvPr id="6" name="TextBox 5">
            <a:extLst>
              <a:ext uri="{FF2B5EF4-FFF2-40B4-BE49-F238E27FC236}">
                <a16:creationId xmlns:a16="http://schemas.microsoft.com/office/drawing/2014/main" id="{159A2134-D076-A22D-A9C8-5DA3F9C84B7A}"/>
              </a:ext>
            </a:extLst>
          </p:cNvPr>
          <p:cNvSpPr txBox="1"/>
          <p:nvPr/>
        </p:nvSpPr>
        <p:spPr>
          <a:xfrm>
            <a:off x="7390894" y="1556658"/>
            <a:ext cx="4572506" cy="1754326"/>
          </a:xfrm>
          <a:prstGeom prst="rect">
            <a:avLst/>
          </a:prstGeom>
          <a:noFill/>
        </p:spPr>
        <p:txBody>
          <a:bodyPr wrap="square" rtlCol="0">
            <a:spAutoFit/>
          </a:bodyPr>
          <a:lstStyle/>
          <a:p>
            <a:r>
              <a:rPr lang="en-US" b="1" dirty="0"/>
              <a:t>Human Insights</a:t>
            </a:r>
          </a:p>
          <a:p>
            <a:r>
              <a:rPr lang="en-US" dirty="0"/>
              <a:t>Based on the interpretation above, we can predict that people who suffer from lung diseases majority are in their mid 50's with the older age group(greater than 70) suffering from Bronchitis and Pneumonia.</a:t>
            </a:r>
          </a:p>
        </p:txBody>
      </p:sp>
    </p:spTree>
    <p:extLst>
      <p:ext uri="{BB962C8B-B14F-4D97-AF65-F5344CB8AC3E}">
        <p14:creationId xmlns:p14="http://schemas.microsoft.com/office/powerpoint/2010/main" val="418573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4EDE8-DFB4-4251-E75F-B61F6DC8A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0B25B-A88A-16AA-FCB8-90F65D43C3BC}"/>
              </a:ext>
            </a:extLst>
          </p:cNvPr>
          <p:cNvSpPr>
            <a:spLocks noGrp="1"/>
          </p:cNvSpPr>
          <p:nvPr>
            <p:ph type="title"/>
          </p:nvPr>
        </p:nvSpPr>
        <p:spPr>
          <a:xfrm>
            <a:off x="838200" y="365126"/>
            <a:ext cx="10515600" cy="527504"/>
          </a:xfrm>
        </p:spPr>
        <p:txBody>
          <a:bodyPr>
            <a:noAutofit/>
          </a:bodyPr>
          <a:lstStyle/>
          <a:p>
            <a:pPr algn="ctr"/>
            <a:r>
              <a:rPr lang="en-US" sz="3200" dirty="0"/>
              <a:t>Recovery Status Against their Smoking Status</a:t>
            </a:r>
          </a:p>
        </p:txBody>
      </p:sp>
      <p:pic>
        <p:nvPicPr>
          <p:cNvPr id="12" name="Content Placeholder 11">
            <a:extLst>
              <a:ext uri="{FF2B5EF4-FFF2-40B4-BE49-F238E27FC236}">
                <a16:creationId xmlns:a16="http://schemas.microsoft.com/office/drawing/2014/main" id="{F922A90D-CFA7-B530-2ED1-4400701C8DF0}"/>
              </a:ext>
            </a:extLst>
          </p:cNvPr>
          <p:cNvPicPr>
            <a:picLocks noGrp="1" noChangeAspect="1"/>
          </p:cNvPicPr>
          <p:nvPr>
            <p:ph idx="1"/>
          </p:nvPr>
        </p:nvPicPr>
        <p:blipFill>
          <a:blip r:embed="rId2"/>
          <a:stretch>
            <a:fillRect/>
          </a:stretch>
        </p:blipFill>
        <p:spPr>
          <a:xfrm>
            <a:off x="174171" y="1379311"/>
            <a:ext cx="6215743" cy="4674070"/>
          </a:xfrm>
        </p:spPr>
      </p:pic>
      <p:sp>
        <p:nvSpPr>
          <p:cNvPr id="6" name="TextBox 5">
            <a:extLst>
              <a:ext uri="{FF2B5EF4-FFF2-40B4-BE49-F238E27FC236}">
                <a16:creationId xmlns:a16="http://schemas.microsoft.com/office/drawing/2014/main" id="{B0F1ADA3-961A-5BDF-E744-81B70FDFCB95}"/>
              </a:ext>
            </a:extLst>
          </p:cNvPr>
          <p:cNvSpPr txBox="1"/>
          <p:nvPr/>
        </p:nvSpPr>
        <p:spPr>
          <a:xfrm>
            <a:off x="7314694" y="1534887"/>
            <a:ext cx="4572506" cy="4093428"/>
          </a:xfrm>
          <a:prstGeom prst="rect">
            <a:avLst/>
          </a:prstGeom>
          <a:noFill/>
        </p:spPr>
        <p:txBody>
          <a:bodyPr wrap="square" rtlCol="0">
            <a:spAutoFit/>
          </a:bodyPr>
          <a:lstStyle/>
          <a:p>
            <a:r>
              <a:rPr lang="en-US" sz="2000" b="1" dirty="0"/>
              <a:t>Interpretation</a:t>
            </a:r>
          </a:p>
          <a:p>
            <a:r>
              <a:rPr lang="en-US" sz="2000" dirty="0"/>
              <a:t>The stacked bar graph depicts that patients who were Non-smokers had about similar recovery outcomes as the ones who smoked. However, we can clearly see that Smokers had a higher outcome of not recovering from their lung diseases.</a:t>
            </a:r>
          </a:p>
          <a:p>
            <a:endParaRPr lang="en-US" sz="2000" dirty="0"/>
          </a:p>
          <a:p>
            <a:r>
              <a:rPr lang="en-US" sz="2000" b="1" dirty="0"/>
              <a:t>Insight</a:t>
            </a:r>
          </a:p>
          <a:p>
            <a:r>
              <a:rPr lang="en-US" sz="2000" dirty="0"/>
              <a:t>The insight that we can make from this is that smoking can worsen the recovery outcome of lung diseases.</a:t>
            </a:r>
          </a:p>
        </p:txBody>
      </p:sp>
    </p:spTree>
    <p:extLst>
      <p:ext uri="{BB962C8B-B14F-4D97-AF65-F5344CB8AC3E}">
        <p14:creationId xmlns:p14="http://schemas.microsoft.com/office/powerpoint/2010/main" val="3306362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AA360-6BA3-6E18-2148-FCB18545B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0D91D-6179-BA2C-CFB6-754A078ED437}"/>
              </a:ext>
            </a:extLst>
          </p:cNvPr>
          <p:cNvSpPr>
            <a:spLocks noGrp="1"/>
          </p:cNvSpPr>
          <p:nvPr>
            <p:ph type="title"/>
          </p:nvPr>
        </p:nvSpPr>
        <p:spPr>
          <a:xfrm>
            <a:off x="838200" y="365126"/>
            <a:ext cx="10515600" cy="527504"/>
          </a:xfrm>
        </p:spPr>
        <p:txBody>
          <a:bodyPr>
            <a:noAutofit/>
          </a:bodyPr>
          <a:lstStyle/>
          <a:p>
            <a:pPr algn="ctr"/>
            <a:r>
              <a:rPr lang="en-US" sz="3200" dirty="0"/>
              <a:t>Recovery of Patient Against Their Lung Capacity</a:t>
            </a:r>
          </a:p>
        </p:txBody>
      </p:sp>
      <p:pic>
        <p:nvPicPr>
          <p:cNvPr id="8" name="Content Placeholder 7">
            <a:extLst>
              <a:ext uri="{FF2B5EF4-FFF2-40B4-BE49-F238E27FC236}">
                <a16:creationId xmlns:a16="http://schemas.microsoft.com/office/drawing/2014/main" id="{C5501F84-1938-397B-0BAD-CAC8EDBB27F3}"/>
              </a:ext>
            </a:extLst>
          </p:cNvPr>
          <p:cNvPicPr>
            <a:picLocks noGrp="1" noChangeAspect="1"/>
          </p:cNvPicPr>
          <p:nvPr>
            <p:ph idx="1"/>
          </p:nvPr>
        </p:nvPicPr>
        <p:blipFill>
          <a:blip r:embed="rId2"/>
          <a:stretch>
            <a:fillRect/>
          </a:stretch>
        </p:blipFill>
        <p:spPr>
          <a:xfrm>
            <a:off x="337456" y="1662039"/>
            <a:ext cx="5843249" cy="4334891"/>
          </a:xfrm>
        </p:spPr>
      </p:pic>
      <p:sp>
        <p:nvSpPr>
          <p:cNvPr id="6" name="TextBox 5">
            <a:extLst>
              <a:ext uri="{FF2B5EF4-FFF2-40B4-BE49-F238E27FC236}">
                <a16:creationId xmlns:a16="http://schemas.microsoft.com/office/drawing/2014/main" id="{1D69B54F-980D-6F70-E2C1-482F26632A82}"/>
              </a:ext>
            </a:extLst>
          </p:cNvPr>
          <p:cNvSpPr txBox="1"/>
          <p:nvPr/>
        </p:nvSpPr>
        <p:spPr>
          <a:xfrm>
            <a:off x="7380009" y="1171316"/>
            <a:ext cx="4474535" cy="5016758"/>
          </a:xfrm>
          <a:prstGeom prst="rect">
            <a:avLst/>
          </a:prstGeom>
          <a:noFill/>
        </p:spPr>
        <p:txBody>
          <a:bodyPr wrap="square" rtlCol="0">
            <a:spAutoFit/>
          </a:bodyPr>
          <a:lstStyle/>
          <a:p>
            <a:r>
              <a:rPr lang="en-US" sz="2000" b="1" dirty="0"/>
              <a:t>Interpretation</a:t>
            </a:r>
          </a:p>
          <a:p>
            <a:r>
              <a:rPr lang="en-US" sz="2000" dirty="0"/>
              <a:t>The stacked bar graph depicts that patients who had a lower lung capacity (1, 2 and 3) had higher "Not recovered" count. Moreover, patients with a high lung capacity (4-5) had about similar ratio of Recovered and Not Recovered. Finally, patients with the highest lung capacity of 6 had always recovered.</a:t>
            </a:r>
          </a:p>
          <a:p>
            <a:endParaRPr lang="en-US" sz="2000" dirty="0"/>
          </a:p>
          <a:p>
            <a:r>
              <a:rPr lang="en-US" sz="2000" b="1" dirty="0"/>
              <a:t>Insight</a:t>
            </a:r>
          </a:p>
          <a:p>
            <a:r>
              <a:rPr lang="en-US" sz="2000" dirty="0"/>
              <a:t>The insight that we can make from this is that a lower lung capacity can significantly reduce the recovery outcomes whereas a very high one can almost always guarantee recovery.</a:t>
            </a:r>
          </a:p>
        </p:txBody>
      </p:sp>
    </p:spTree>
    <p:extLst>
      <p:ext uri="{BB962C8B-B14F-4D97-AF65-F5344CB8AC3E}">
        <p14:creationId xmlns:p14="http://schemas.microsoft.com/office/powerpoint/2010/main" val="3783041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6B57A-3666-52EF-0BA3-19852C626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8783D-765A-7B81-1ADB-8A39DE4BF17B}"/>
              </a:ext>
            </a:extLst>
          </p:cNvPr>
          <p:cNvSpPr>
            <a:spLocks noGrp="1"/>
          </p:cNvSpPr>
          <p:nvPr>
            <p:ph type="title"/>
          </p:nvPr>
        </p:nvSpPr>
        <p:spPr>
          <a:xfrm>
            <a:off x="838200" y="365126"/>
            <a:ext cx="10515600" cy="527504"/>
          </a:xfrm>
        </p:spPr>
        <p:txBody>
          <a:bodyPr>
            <a:noAutofit/>
          </a:bodyPr>
          <a:lstStyle/>
          <a:p>
            <a:pPr algn="ctr"/>
            <a:r>
              <a:rPr lang="en-US" sz="3200" dirty="0"/>
              <a:t>Recovery of Patient Against Their Lung Capacity</a:t>
            </a:r>
          </a:p>
        </p:txBody>
      </p:sp>
      <p:pic>
        <p:nvPicPr>
          <p:cNvPr id="7" name="Content Placeholder 6">
            <a:extLst>
              <a:ext uri="{FF2B5EF4-FFF2-40B4-BE49-F238E27FC236}">
                <a16:creationId xmlns:a16="http://schemas.microsoft.com/office/drawing/2014/main" id="{86B79DC2-11D1-79AC-624B-7A8381168A45}"/>
              </a:ext>
            </a:extLst>
          </p:cNvPr>
          <p:cNvPicPr>
            <a:picLocks noGrp="1" noChangeAspect="1"/>
          </p:cNvPicPr>
          <p:nvPr>
            <p:ph idx="1"/>
          </p:nvPr>
        </p:nvPicPr>
        <p:blipFill>
          <a:blip r:embed="rId2"/>
          <a:stretch>
            <a:fillRect/>
          </a:stretch>
        </p:blipFill>
        <p:spPr>
          <a:xfrm>
            <a:off x="119744" y="1481354"/>
            <a:ext cx="6346372" cy="4577371"/>
          </a:xfrm>
        </p:spPr>
      </p:pic>
      <p:sp>
        <p:nvSpPr>
          <p:cNvPr id="6" name="TextBox 5">
            <a:extLst>
              <a:ext uri="{FF2B5EF4-FFF2-40B4-BE49-F238E27FC236}">
                <a16:creationId xmlns:a16="http://schemas.microsoft.com/office/drawing/2014/main" id="{6499590A-B3D7-27B3-BDAA-989B35B0243D}"/>
              </a:ext>
            </a:extLst>
          </p:cNvPr>
          <p:cNvSpPr txBox="1"/>
          <p:nvPr/>
        </p:nvSpPr>
        <p:spPr>
          <a:xfrm>
            <a:off x="7151408" y="1481354"/>
            <a:ext cx="4572506" cy="3785652"/>
          </a:xfrm>
          <a:prstGeom prst="rect">
            <a:avLst/>
          </a:prstGeom>
          <a:noFill/>
        </p:spPr>
        <p:txBody>
          <a:bodyPr wrap="square" rtlCol="0">
            <a:spAutoFit/>
          </a:bodyPr>
          <a:lstStyle/>
          <a:p>
            <a:r>
              <a:rPr lang="en-US" sz="2000" b="1" dirty="0"/>
              <a:t>Interpretation</a:t>
            </a:r>
          </a:p>
          <a:p>
            <a:r>
              <a:rPr lang="en-US" sz="2000" dirty="0"/>
              <a:t>We can see that patients which opted for therapy as their form of treatment had a higher count of not recovering when compared to the ones who chose surgery. The ones who chose surgery had a higher count of recovering after the treatment.</a:t>
            </a:r>
          </a:p>
          <a:p>
            <a:endParaRPr lang="en-US" sz="2000" dirty="0"/>
          </a:p>
          <a:p>
            <a:r>
              <a:rPr lang="en-US" sz="2000" b="1" dirty="0"/>
              <a:t>Insight</a:t>
            </a:r>
          </a:p>
          <a:p>
            <a:r>
              <a:rPr lang="en-US" sz="2000" dirty="0"/>
              <a:t>We can say that surgical forms of treatment work much better than just therapeutical kind.</a:t>
            </a:r>
          </a:p>
        </p:txBody>
      </p:sp>
    </p:spTree>
    <p:extLst>
      <p:ext uri="{BB962C8B-B14F-4D97-AF65-F5344CB8AC3E}">
        <p14:creationId xmlns:p14="http://schemas.microsoft.com/office/powerpoint/2010/main" val="3148131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DEDFD-A1CD-9A01-6420-5FC3C87F3E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71E191-BE0D-6D56-109C-DCE736DD458F}"/>
              </a:ext>
            </a:extLst>
          </p:cNvPr>
          <p:cNvSpPr>
            <a:spLocks noGrp="1"/>
          </p:cNvSpPr>
          <p:nvPr>
            <p:ph idx="1"/>
          </p:nvPr>
        </p:nvSpPr>
        <p:spPr/>
        <p:txBody>
          <a:bodyPr/>
          <a:lstStyle/>
          <a:p>
            <a:r>
              <a:rPr lang="en-US" dirty="0">
                <a:highlight>
                  <a:srgbClr val="FFFF00"/>
                </a:highlight>
              </a:rPr>
              <a:t>THIS WITH MACHINE ANALYSIS NOW</a:t>
            </a:r>
          </a:p>
        </p:txBody>
      </p:sp>
    </p:spTree>
    <p:extLst>
      <p:ext uri="{BB962C8B-B14F-4D97-AF65-F5344CB8AC3E}">
        <p14:creationId xmlns:p14="http://schemas.microsoft.com/office/powerpoint/2010/main" val="322874838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22</TotalTime>
  <Words>440</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Gill Sans MT</vt:lpstr>
      <vt:lpstr>Gallery</vt:lpstr>
      <vt:lpstr>Team 3</vt:lpstr>
      <vt:lpstr>Age of Patients Against Their Disease Type</vt:lpstr>
      <vt:lpstr>Age of Patients Against Their Disease Type (cont.)</vt:lpstr>
      <vt:lpstr>Recovery Status Against their Smoking Status</vt:lpstr>
      <vt:lpstr>Recovery of Patient Against Their Lung Capacity</vt:lpstr>
      <vt:lpstr>Recovery of Patient Against Their Lung Capacity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Prashant Ram</dc:creator>
  <cp:lastModifiedBy>Burhan, Mohamed</cp:lastModifiedBy>
  <cp:revision>10</cp:revision>
  <dcterms:created xsi:type="dcterms:W3CDTF">2025-03-06T08:55:42Z</dcterms:created>
  <dcterms:modified xsi:type="dcterms:W3CDTF">2025-03-07T05:01:15Z</dcterms:modified>
</cp:coreProperties>
</file>